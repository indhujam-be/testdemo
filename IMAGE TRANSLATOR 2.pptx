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8" r:id="rId3"/>
    <p:sldId id="269" r:id="rId4"/>
    <p:sldId id="270" r:id="rId5"/>
    <p:sldId id="271" r:id="rId6"/>
    <p:sldId id="272" r:id="rId7"/>
    <p:sldId id="273" r:id="rId8"/>
    <p:sldId id="277" r:id="rId9"/>
    <p:sldId id="274" r:id="rId10"/>
    <p:sldId id="275" r:id="rId11"/>
    <p:sldId id="276" r:id="rId12"/>
    <p:sldId id="27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8F7922-FE5F-4E7E-AE86-FB7878D88F42}" type="datetimeFigureOut">
              <a:rPr lang="en-US" smtClean="0"/>
              <a:t>11/7/2025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E7DFE6-C5A4-44D8-AD3F-7036AEB96C73}" type="slidenum">
              <a:rPr lang="en-US" smtClean="0"/>
              <a:t>‹#›</a:t>
            </a:fld>
            <a:endParaRPr lang="en-US"/>
          </a:p>
        </p:txBody>
      </p:sp>
    </p:spTree>
    <p:extLst>
      <p:ext uri="{BB962C8B-B14F-4D97-AF65-F5344CB8AC3E}">
        <p14:creationId xmlns:p14="http://schemas.microsoft.com/office/powerpoint/2010/main" val="3883396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C89DF25-7F66-4184-818B-FE078C4B5784}" type="datetimeFigureOut">
              <a:rPr lang="en-IN" smtClean="0"/>
              <a:pPr/>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BC78E4-3F12-4106-A070-1ADA84D9B3FB}" type="slidenum">
              <a:rPr lang="en-IN" smtClean="0"/>
              <a:pPr/>
              <a:t>‹#›</a:t>
            </a:fld>
            <a:endParaRPr lang="en-IN"/>
          </a:p>
        </p:txBody>
      </p:sp>
    </p:spTree>
    <p:extLst>
      <p:ext uri="{BB962C8B-B14F-4D97-AF65-F5344CB8AC3E}">
        <p14:creationId xmlns:p14="http://schemas.microsoft.com/office/powerpoint/2010/main" val="4232158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C89DF25-7F66-4184-818B-FE078C4B5784}" type="datetimeFigureOut">
              <a:rPr lang="en-IN" smtClean="0"/>
              <a:pPr/>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BC78E4-3F12-4106-A070-1ADA84D9B3FB}" type="slidenum">
              <a:rPr lang="en-IN" smtClean="0"/>
              <a:pPr/>
              <a:t>‹#›</a:t>
            </a:fld>
            <a:endParaRPr lang="en-IN"/>
          </a:p>
        </p:txBody>
      </p:sp>
    </p:spTree>
    <p:extLst>
      <p:ext uri="{BB962C8B-B14F-4D97-AF65-F5344CB8AC3E}">
        <p14:creationId xmlns:p14="http://schemas.microsoft.com/office/powerpoint/2010/main" val="2077202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C89DF25-7F66-4184-818B-FE078C4B5784}" type="datetimeFigureOut">
              <a:rPr lang="en-IN" smtClean="0"/>
              <a:pPr/>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BC78E4-3F12-4106-A070-1ADA84D9B3FB}" type="slidenum">
              <a:rPr lang="en-IN" smtClean="0"/>
              <a:pPr/>
              <a:t>‹#›</a:t>
            </a:fld>
            <a:endParaRPr lang="en-IN"/>
          </a:p>
        </p:txBody>
      </p:sp>
    </p:spTree>
    <p:extLst>
      <p:ext uri="{BB962C8B-B14F-4D97-AF65-F5344CB8AC3E}">
        <p14:creationId xmlns:p14="http://schemas.microsoft.com/office/powerpoint/2010/main" val="799716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C89DF25-7F66-4184-818B-FE078C4B5784}" type="datetimeFigureOut">
              <a:rPr lang="en-IN" smtClean="0"/>
              <a:pPr/>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BC78E4-3F12-4106-A070-1ADA84D9B3FB}" type="slidenum">
              <a:rPr lang="en-IN" smtClean="0"/>
              <a:pPr/>
              <a:t>‹#›</a:t>
            </a:fld>
            <a:endParaRPr lang="en-IN"/>
          </a:p>
        </p:txBody>
      </p:sp>
    </p:spTree>
    <p:extLst>
      <p:ext uri="{BB962C8B-B14F-4D97-AF65-F5344CB8AC3E}">
        <p14:creationId xmlns:p14="http://schemas.microsoft.com/office/powerpoint/2010/main" val="73489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C89DF25-7F66-4184-818B-FE078C4B5784}" type="datetimeFigureOut">
              <a:rPr lang="en-IN" smtClean="0"/>
              <a:pPr/>
              <a:t>07-11-2025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6BC78E4-3F12-4106-A070-1ADA84D9B3FB}" type="slidenum">
              <a:rPr lang="en-IN" smtClean="0"/>
              <a:pPr/>
              <a:t>‹#›</a:t>
            </a:fld>
            <a:endParaRPr lang="en-IN"/>
          </a:p>
        </p:txBody>
      </p:sp>
    </p:spTree>
    <p:extLst>
      <p:ext uri="{BB962C8B-B14F-4D97-AF65-F5344CB8AC3E}">
        <p14:creationId xmlns:p14="http://schemas.microsoft.com/office/powerpoint/2010/main" val="4282634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C89DF25-7F66-4184-818B-FE078C4B5784}" type="datetimeFigureOut">
              <a:rPr lang="en-IN" smtClean="0"/>
              <a:pPr/>
              <a:t>07-11-2025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6BC78E4-3F12-4106-A070-1ADA84D9B3FB}" type="slidenum">
              <a:rPr lang="en-IN" smtClean="0"/>
              <a:pPr/>
              <a:t>‹#›</a:t>
            </a:fld>
            <a:endParaRPr lang="en-IN"/>
          </a:p>
        </p:txBody>
      </p:sp>
    </p:spTree>
    <p:extLst>
      <p:ext uri="{BB962C8B-B14F-4D97-AF65-F5344CB8AC3E}">
        <p14:creationId xmlns:p14="http://schemas.microsoft.com/office/powerpoint/2010/main" val="392536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89DF25-7F66-4184-818B-FE078C4B5784}" type="datetimeFigureOut">
              <a:rPr lang="en-IN" smtClean="0"/>
              <a:pPr/>
              <a:t>07-11-2025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6BC78E4-3F12-4106-A070-1ADA84D9B3FB}" type="slidenum">
              <a:rPr lang="en-IN" smtClean="0"/>
              <a:pPr/>
              <a:t>‹#›</a:t>
            </a:fld>
            <a:endParaRPr lang="en-IN"/>
          </a:p>
        </p:txBody>
      </p:sp>
    </p:spTree>
    <p:extLst>
      <p:ext uri="{BB962C8B-B14F-4D97-AF65-F5344CB8AC3E}">
        <p14:creationId xmlns:p14="http://schemas.microsoft.com/office/powerpoint/2010/main" val="2467109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C89DF25-7F66-4184-818B-FE078C4B5784}" type="datetimeFigureOut">
              <a:rPr lang="en-IN" smtClean="0"/>
              <a:pPr/>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BC78E4-3F12-4106-A070-1ADA84D9B3FB}" type="slidenum">
              <a:rPr lang="en-IN" smtClean="0"/>
              <a:pPr/>
              <a:t>‹#›</a:t>
            </a:fld>
            <a:endParaRPr lang="en-IN"/>
          </a:p>
        </p:txBody>
      </p:sp>
    </p:spTree>
    <p:extLst>
      <p:ext uri="{BB962C8B-B14F-4D97-AF65-F5344CB8AC3E}">
        <p14:creationId xmlns:p14="http://schemas.microsoft.com/office/powerpoint/2010/main" val="4114343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C89DF25-7F66-4184-818B-FE078C4B5784}" type="datetimeFigureOut">
              <a:rPr lang="en-IN" smtClean="0"/>
              <a:pPr/>
              <a:t>07-11-2025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BC78E4-3F12-4106-A070-1ADA84D9B3FB}" type="slidenum">
              <a:rPr lang="en-IN" smtClean="0"/>
              <a:pPr/>
              <a:t>‹#›</a:t>
            </a:fld>
            <a:endParaRPr lang="en-IN"/>
          </a:p>
        </p:txBody>
      </p:sp>
    </p:spTree>
    <p:extLst>
      <p:ext uri="{BB962C8B-B14F-4D97-AF65-F5344CB8AC3E}">
        <p14:creationId xmlns:p14="http://schemas.microsoft.com/office/powerpoint/2010/main" val="975981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C89DF25-7F66-4184-818B-FE078C4B5784}" type="datetimeFigureOut">
              <a:rPr lang="en-IN" smtClean="0"/>
              <a:pPr/>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BC78E4-3F12-4106-A070-1ADA84D9B3FB}" type="slidenum">
              <a:rPr lang="en-IN" smtClean="0"/>
              <a:pPr/>
              <a:t>‹#›</a:t>
            </a:fld>
            <a:endParaRPr lang="en-IN"/>
          </a:p>
        </p:txBody>
      </p:sp>
    </p:spTree>
    <p:extLst>
      <p:ext uri="{BB962C8B-B14F-4D97-AF65-F5344CB8AC3E}">
        <p14:creationId xmlns:p14="http://schemas.microsoft.com/office/powerpoint/2010/main" val="4084351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C89DF25-7F66-4184-818B-FE078C4B5784}" type="datetimeFigureOut">
              <a:rPr lang="en-IN" smtClean="0"/>
              <a:pPr/>
              <a:t>07-11-2025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BC78E4-3F12-4106-A070-1ADA84D9B3FB}" type="slidenum">
              <a:rPr lang="en-IN" smtClean="0"/>
              <a:pPr/>
              <a:t>‹#›</a:t>
            </a:fld>
            <a:endParaRPr lang="en-IN"/>
          </a:p>
        </p:txBody>
      </p:sp>
    </p:spTree>
    <p:extLst>
      <p:ext uri="{BB962C8B-B14F-4D97-AF65-F5344CB8AC3E}">
        <p14:creationId xmlns:p14="http://schemas.microsoft.com/office/powerpoint/2010/main" val="2777095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89DF25-7F66-4184-818B-FE078C4B5784}" type="datetimeFigureOut">
              <a:rPr lang="en-IN" smtClean="0"/>
              <a:pPr/>
              <a:t>07-11-2025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BC78E4-3F12-4106-A070-1ADA84D9B3FB}" type="slidenum">
              <a:rPr lang="en-IN" smtClean="0"/>
              <a:pPr/>
              <a:t>‹#›</a:t>
            </a:fld>
            <a:endParaRPr lang="en-IN"/>
          </a:p>
        </p:txBody>
      </p:sp>
    </p:spTree>
    <p:extLst>
      <p:ext uri="{BB962C8B-B14F-4D97-AF65-F5344CB8AC3E}">
        <p14:creationId xmlns:p14="http://schemas.microsoft.com/office/powerpoint/2010/main" val="1483325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886"/>
            <a:ext cx="12192000" cy="6858000"/>
          </a:xfrm>
          <a:prstGeom prst="rect">
            <a:avLst/>
          </a:prstGeom>
        </p:spPr>
      </p:pic>
      <p:sp>
        <p:nvSpPr>
          <p:cNvPr id="10" name="TextBox 9"/>
          <p:cNvSpPr txBox="1"/>
          <p:nvPr/>
        </p:nvSpPr>
        <p:spPr>
          <a:xfrm>
            <a:off x="1036320" y="1715998"/>
            <a:ext cx="9248503" cy="1200329"/>
          </a:xfrm>
          <a:prstGeom prst="rect">
            <a:avLst/>
          </a:prstGeom>
          <a:noFill/>
        </p:spPr>
        <p:txBody>
          <a:bodyPr wrap="square" rtlCol="0">
            <a:spAutoFit/>
          </a:bodyPr>
          <a:lstStyle/>
          <a:p>
            <a:pPr algn="ctr"/>
            <a:r>
              <a:rPr lang="en-IN" sz="3600" dirty="0" smtClean="0">
                <a:latin typeface="Algerian" panose="04020705040A02060702" pitchFamily="82" charset="0"/>
              </a:rPr>
              <a:t>REAL </a:t>
            </a:r>
            <a:r>
              <a:rPr lang="en-IN" sz="3600" dirty="0" smtClean="0">
                <a:latin typeface="Algerian" panose="04020705040A02060702" pitchFamily="82" charset="0"/>
              </a:rPr>
              <a:t>TIME LANGUAGE </a:t>
            </a:r>
            <a:r>
              <a:rPr lang="en-IN" sz="3600" dirty="0" smtClean="0">
                <a:latin typeface="Algerian" panose="04020705040A02060702" pitchFamily="82" charset="0"/>
              </a:rPr>
              <a:t>TRANSLATOR WITH CAMERA</a:t>
            </a:r>
            <a:endParaRPr lang="en-IN" sz="3600" dirty="0">
              <a:latin typeface="Algerian" panose="04020705040A02060702" pitchFamily="82" charset="0"/>
            </a:endParaRPr>
          </a:p>
        </p:txBody>
      </p:sp>
      <p:sp>
        <p:nvSpPr>
          <p:cNvPr id="11" name="TextBox 10"/>
          <p:cNvSpPr txBox="1"/>
          <p:nvPr/>
        </p:nvSpPr>
        <p:spPr>
          <a:xfrm>
            <a:off x="5364480" y="3625287"/>
            <a:ext cx="6792686" cy="2677656"/>
          </a:xfrm>
          <a:prstGeom prst="rect">
            <a:avLst/>
          </a:prstGeom>
          <a:noFill/>
        </p:spPr>
        <p:txBody>
          <a:bodyPr wrap="square" rtlCol="0">
            <a:spAutoFit/>
          </a:bodyPr>
          <a:lstStyle/>
          <a:p>
            <a:endParaRPr lang="en-IN" sz="2400" dirty="0" smtClean="0">
              <a:latin typeface="Arial Rounded MT Bold" panose="020F0704030504030204" pitchFamily="34" charset="0"/>
            </a:endParaRPr>
          </a:p>
          <a:p>
            <a:endParaRPr lang="en-IN" sz="2400" dirty="0" smtClean="0">
              <a:latin typeface="Arial Rounded MT Bold" panose="020F0704030504030204" pitchFamily="34" charset="0"/>
            </a:endParaRPr>
          </a:p>
          <a:p>
            <a:r>
              <a:rPr lang="en-IN" sz="2400" dirty="0" smtClean="0">
                <a:latin typeface="Algerian" panose="04020705040A02060702" pitchFamily="82" charset="0"/>
              </a:rPr>
              <a:t>SUMBITTED BY:</a:t>
            </a:r>
          </a:p>
          <a:p>
            <a:endParaRPr lang="en-IN" sz="2400" dirty="0" smtClean="0">
              <a:latin typeface="Algerian" panose="04020705040A02060702" pitchFamily="82" charset="0"/>
            </a:endParaRPr>
          </a:p>
          <a:p>
            <a:r>
              <a:rPr lang="en-IN" sz="2400" dirty="0" smtClean="0">
                <a:latin typeface="Algerian" panose="04020705040A02060702" pitchFamily="82" charset="0"/>
              </a:rPr>
              <a:t>      P.AARTHI SHIVANI (950522104002)</a:t>
            </a:r>
          </a:p>
          <a:p>
            <a:r>
              <a:rPr lang="en-IN" sz="2400" dirty="0" smtClean="0">
                <a:latin typeface="Algerian" panose="04020705040A02060702" pitchFamily="82" charset="0"/>
              </a:rPr>
              <a:t>      M.INDHUJA NATCHIYAR (950522104016)</a:t>
            </a:r>
          </a:p>
          <a:p>
            <a:r>
              <a:rPr lang="en-IN" sz="2400" dirty="0" smtClean="0">
                <a:latin typeface="Algerian" panose="04020705040A02060702" pitchFamily="82" charset="0"/>
              </a:rPr>
              <a:t>      BE - CSE</a:t>
            </a:r>
            <a:endParaRPr lang="en-IN" sz="2400" dirty="0">
              <a:latin typeface="Algerian" panose="04020705040A02060702" pitchFamily="82" charset="0"/>
            </a:endParaRPr>
          </a:p>
        </p:txBody>
      </p:sp>
      <p:sp>
        <p:nvSpPr>
          <p:cNvPr id="4" name="TextBox 3"/>
          <p:cNvSpPr txBox="1"/>
          <p:nvPr/>
        </p:nvSpPr>
        <p:spPr>
          <a:xfrm>
            <a:off x="1036320" y="627279"/>
            <a:ext cx="10572206" cy="584775"/>
          </a:xfrm>
          <a:prstGeom prst="rect">
            <a:avLst/>
          </a:prstGeom>
          <a:noFill/>
        </p:spPr>
        <p:txBody>
          <a:bodyPr wrap="square" rtlCol="0">
            <a:spAutoFit/>
          </a:bodyPr>
          <a:lstStyle/>
          <a:p>
            <a:r>
              <a:rPr lang="en-IN" sz="3200" dirty="0" smtClean="0">
                <a:latin typeface="Algerian" panose="04020705040A02060702" pitchFamily="82" charset="0"/>
              </a:rPr>
              <a:t>DR.SIVANTHI </a:t>
            </a:r>
            <a:r>
              <a:rPr lang="en-IN" sz="3200" dirty="0" smtClean="0">
                <a:latin typeface="Algerian" panose="04020705040A02060702" pitchFamily="82" charset="0"/>
              </a:rPr>
              <a:t>ADITANAR COLLEGE OF ENGINERING</a:t>
            </a:r>
            <a:endParaRPr lang="en-IN" sz="3200" dirty="0">
              <a:latin typeface="Algerian" panose="04020705040A02060702" pitchFamily="82" charset="0"/>
            </a:endParaRPr>
          </a:p>
        </p:txBody>
      </p:sp>
    </p:spTree>
    <p:extLst>
      <p:ext uri="{BB962C8B-B14F-4D97-AF65-F5344CB8AC3E}">
        <p14:creationId xmlns:p14="http://schemas.microsoft.com/office/powerpoint/2010/main" val="3773533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p:spPr>
      </p:pic>
      <p:sp>
        <p:nvSpPr>
          <p:cNvPr id="5" name="TextBox 4"/>
          <p:cNvSpPr txBox="1"/>
          <p:nvPr/>
        </p:nvSpPr>
        <p:spPr>
          <a:xfrm>
            <a:off x="748937" y="975360"/>
            <a:ext cx="10380617" cy="4031873"/>
          </a:xfrm>
          <a:prstGeom prst="rect">
            <a:avLst/>
          </a:prstGeom>
          <a:noFill/>
        </p:spPr>
        <p:txBody>
          <a:bodyPr wrap="square" rtlCol="0">
            <a:spAutoFit/>
          </a:bodyPr>
          <a:lstStyle/>
          <a:p>
            <a:r>
              <a:rPr lang="en-US" sz="3200" dirty="0" smtClean="0">
                <a:latin typeface="Arial Rounded MT Bold" panose="020F0704030504030204" pitchFamily="34" charset="0"/>
              </a:rPr>
              <a:t>ABSTRACT</a:t>
            </a:r>
          </a:p>
          <a:p>
            <a:endParaRPr lang="en-US" sz="2800" dirty="0">
              <a:latin typeface="Times New Roman" pitchFamily="18" charset="0"/>
              <a:cs typeface="Times New Roman" pitchFamily="18" charset="0"/>
            </a:endParaRPr>
          </a:p>
          <a:p>
            <a:pPr algn="just"/>
            <a:r>
              <a:rPr lang="en-US" sz="2800" dirty="0" smtClean="0">
                <a:latin typeface="Times New Roman" pitchFamily="18" charset="0"/>
                <a:cs typeface="Times New Roman" pitchFamily="18" charset="0"/>
              </a:rPr>
              <a:t>                              This Project introduces a </a:t>
            </a:r>
            <a:r>
              <a:rPr lang="en-US" sz="2800" b="1" dirty="0" smtClean="0">
                <a:latin typeface="Times New Roman" pitchFamily="18" charset="0"/>
                <a:cs typeface="Times New Roman" pitchFamily="18" charset="0"/>
              </a:rPr>
              <a:t>Real-Time Language Translator with Camera</a:t>
            </a:r>
            <a:r>
              <a:rPr lang="en-US" sz="2800" dirty="0" smtClean="0">
                <a:latin typeface="Times New Roman" pitchFamily="18" charset="0"/>
                <a:cs typeface="Times New Roman" pitchFamily="18" charset="0"/>
              </a:rPr>
              <a:t> that uses Optical Character Recognition (OCR) and AI translation to convert foreign text into the user's language instantly. By capturing text through a live camera feed and translating it on-screen, the system helps users overcome language barriers in real-world situations like travel, education, and communication.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650856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p:spPr>
      </p:pic>
      <p:sp>
        <p:nvSpPr>
          <p:cNvPr id="7" name="TextBox 6"/>
          <p:cNvSpPr txBox="1"/>
          <p:nvPr/>
        </p:nvSpPr>
        <p:spPr>
          <a:xfrm rot="10800000" flipH="1" flipV="1">
            <a:off x="687977" y="915141"/>
            <a:ext cx="10665823" cy="3877985"/>
          </a:xfrm>
          <a:prstGeom prst="rect">
            <a:avLst/>
          </a:prstGeom>
          <a:noFill/>
        </p:spPr>
        <p:txBody>
          <a:bodyPr wrap="square" rtlCol="0">
            <a:spAutoFit/>
          </a:bodyPr>
          <a:lstStyle/>
          <a:p>
            <a:r>
              <a:rPr lang="en-US" sz="3200" b="1" dirty="0" smtClean="0">
                <a:latin typeface="Arial Rounded MT Bold" panose="020F0704030504030204" pitchFamily="34" charset="0"/>
              </a:rPr>
              <a:t>INTRODUCTION</a:t>
            </a:r>
          </a:p>
          <a:p>
            <a:endParaRPr lang="en-US" dirty="0" smtClean="0"/>
          </a:p>
          <a:p>
            <a:pPr algn="just"/>
            <a:r>
              <a:rPr lang="en-US" sz="2800" dirty="0" smtClean="0">
                <a:latin typeface="Times New Roman" pitchFamily="18" charset="0"/>
                <a:cs typeface="Times New Roman" pitchFamily="18" charset="0"/>
              </a:rPr>
              <a:t>                                 Language barriers often make communication difficult, especially when traveling or working with international content. By combining Optical Character Recognition (OCR) technology with AI-based translation, the app instantly converts foreign text into the user’s chosen language. This allows users to easily understand signs, menus, documents, and more without manual typing. The goal is to provide a fast, accurate, and convenient tool that breaks down language obstacles</a:t>
            </a:r>
            <a:r>
              <a:rPr lang="en-US" sz="2800" dirty="0" smtClean="0"/>
              <a:t>. </a:t>
            </a:r>
            <a:endParaRPr lang="en-US" dirty="0"/>
          </a:p>
        </p:txBody>
      </p:sp>
    </p:spTree>
    <p:extLst>
      <p:ext uri="{BB962C8B-B14F-4D97-AF65-F5344CB8AC3E}">
        <p14:creationId xmlns:p14="http://schemas.microsoft.com/office/powerpoint/2010/main" val="1676824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12191999" cy="6858000"/>
          </a:xfrm>
        </p:spPr>
      </p:pic>
      <p:sp>
        <p:nvSpPr>
          <p:cNvPr id="5" name="TextBox 4"/>
          <p:cNvSpPr txBox="1"/>
          <p:nvPr/>
        </p:nvSpPr>
        <p:spPr>
          <a:xfrm>
            <a:off x="1053737" y="1280160"/>
            <a:ext cx="10128069" cy="4462760"/>
          </a:xfrm>
          <a:prstGeom prst="rect">
            <a:avLst/>
          </a:prstGeom>
          <a:noFill/>
        </p:spPr>
        <p:txBody>
          <a:bodyPr wrap="square" rtlCol="0">
            <a:spAutoFit/>
          </a:bodyPr>
          <a:lstStyle/>
          <a:p>
            <a:r>
              <a:rPr lang="en-US" sz="3200" dirty="0" smtClean="0">
                <a:latin typeface="Arial Rounded MT Bold" panose="020F0704030504030204" pitchFamily="34" charset="0"/>
              </a:rPr>
              <a:t>OBJECTIVE</a:t>
            </a:r>
          </a:p>
          <a:p>
            <a:endParaRPr lang="en-US" sz="2800" dirty="0" smtClean="0"/>
          </a:p>
          <a:p>
            <a:pPr algn="just"/>
            <a:r>
              <a:rPr lang="en-US" sz="2800" dirty="0" smtClean="0">
                <a:latin typeface="Times New Roman" pitchFamily="18" charset="0"/>
                <a:cs typeface="Times New Roman" pitchFamily="18" charset="0"/>
              </a:rPr>
              <a:t>                   The Objective of this Project is to create a mobile app that translates text in real time using a camera. It aims to capture text accurately with OCR technology and translate it instantly into different languages. The app will provide fast and reliable translations to help users understand foreign text. It should support multiple popular languages. The user interface will be simple and easy to use</a:t>
            </a:r>
            <a:r>
              <a:rPr lang="en-US" sz="2800" dirty="0" smtClean="0"/>
              <a:t>.</a:t>
            </a:r>
          </a:p>
          <a:p>
            <a:pPr algn="just"/>
            <a:endParaRPr lang="en-IN" sz="2800" dirty="0"/>
          </a:p>
        </p:txBody>
      </p:sp>
    </p:spTree>
    <p:extLst>
      <p:ext uri="{BB962C8B-B14F-4D97-AF65-F5344CB8AC3E}">
        <p14:creationId xmlns:p14="http://schemas.microsoft.com/office/powerpoint/2010/main" val="266769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 y="0"/>
            <a:ext cx="12192001" cy="6857999"/>
          </a:xfrm>
        </p:spPr>
      </p:pic>
      <p:sp>
        <p:nvSpPr>
          <p:cNvPr id="5" name="TextBox 4"/>
          <p:cNvSpPr txBox="1"/>
          <p:nvPr/>
        </p:nvSpPr>
        <p:spPr>
          <a:xfrm>
            <a:off x="722812" y="1105988"/>
            <a:ext cx="10424160" cy="3939540"/>
          </a:xfrm>
          <a:prstGeom prst="rect">
            <a:avLst/>
          </a:prstGeom>
          <a:noFill/>
        </p:spPr>
        <p:txBody>
          <a:bodyPr wrap="square" rtlCol="0">
            <a:spAutoFit/>
          </a:bodyPr>
          <a:lstStyle/>
          <a:p>
            <a:r>
              <a:rPr lang="en-US" sz="3200" dirty="0">
                <a:latin typeface="Arial Rounded MT Bold" panose="020F0704030504030204" pitchFamily="34" charset="0"/>
              </a:rPr>
              <a:t>USE CASES</a:t>
            </a:r>
            <a:r>
              <a:rPr lang="en-US" sz="3200" dirty="0" smtClean="0">
                <a:latin typeface="Arial Rounded MT Bold" panose="020F0704030504030204" pitchFamily="34" charset="0"/>
              </a:rPr>
              <a:t>:</a:t>
            </a:r>
          </a:p>
          <a:p>
            <a:endParaRPr lang="en-US" sz="3200" dirty="0">
              <a:latin typeface="Arial Rounded MT Bold" panose="020F0704030504030204" pitchFamily="34" charset="0"/>
            </a:endParaRPr>
          </a:p>
          <a:p>
            <a:pPr marL="2743200" lvl="5" indent="-457200">
              <a:buFont typeface="Wingdings" panose="05000000000000000000" pitchFamily="2" charset="2"/>
              <a:buChar char="ü"/>
            </a:pPr>
            <a:r>
              <a:rPr lang="en-US" sz="2800" dirty="0" smtClean="0"/>
              <a:t>Tourists </a:t>
            </a:r>
            <a:r>
              <a:rPr lang="en-US" sz="2800" dirty="0"/>
              <a:t>translating street signs, menus, etc.</a:t>
            </a:r>
          </a:p>
          <a:p>
            <a:pPr marL="2743200" lvl="5" indent="-457200">
              <a:buFont typeface="Wingdings" panose="05000000000000000000" pitchFamily="2" charset="2"/>
              <a:buChar char="ü"/>
            </a:pPr>
            <a:r>
              <a:rPr lang="en-US" sz="2800" dirty="0"/>
              <a:t>Students and researchers translating academic content</a:t>
            </a:r>
            <a:r>
              <a:rPr lang="en-US" sz="2800" dirty="0" smtClean="0"/>
              <a:t>.</a:t>
            </a:r>
          </a:p>
          <a:p>
            <a:pPr marL="2743200" lvl="5" indent="-457200">
              <a:buFont typeface="Wingdings" panose="05000000000000000000" pitchFamily="2" charset="2"/>
              <a:buChar char="ü"/>
            </a:pPr>
            <a:r>
              <a:rPr lang="en-US" sz="2800" dirty="0" smtClean="0"/>
              <a:t>Real-time </a:t>
            </a:r>
            <a:r>
              <a:rPr lang="en-US" sz="2800" dirty="0"/>
              <a:t>translation of documents in multinational companies</a:t>
            </a:r>
            <a:r>
              <a:rPr lang="en-US" sz="2800" dirty="0" smtClean="0"/>
              <a:t>.</a:t>
            </a:r>
            <a:endParaRPr lang="en-US" sz="2800" dirty="0"/>
          </a:p>
          <a:p>
            <a:pPr marL="2743200" lvl="5" indent="-457200">
              <a:buFont typeface="Wingdings" panose="05000000000000000000" pitchFamily="2" charset="2"/>
              <a:buChar char="ü"/>
            </a:pPr>
            <a:r>
              <a:rPr lang="en-US" sz="2800" dirty="0"/>
              <a:t>Language learners improving comprehension</a:t>
            </a:r>
            <a:r>
              <a:rPr lang="en-US" dirty="0"/>
              <a:t>.</a:t>
            </a:r>
          </a:p>
          <a:p>
            <a:endParaRPr lang="en-US" dirty="0"/>
          </a:p>
        </p:txBody>
      </p:sp>
    </p:spTree>
    <p:extLst>
      <p:ext uri="{BB962C8B-B14F-4D97-AF65-F5344CB8AC3E}">
        <p14:creationId xmlns:p14="http://schemas.microsoft.com/office/powerpoint/2010/main" val="951199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p:spPr>
      </p:pic>
      <p:sp>
        <p:nvSpPr>
          <p:cNvPr id="5" name="TextBox 4"/>
          <p:cNvSpPr txBox="1"/>
          <p:nvPr/>
        </p:nvSpPr>
        <p:spPr>
          <a:xfrm>
            <a:off x="838200" y="1105989"/>
            <a:ext cx="10308771" cy="4031873"/>
          </a:xfrm>
          <a:prstGeom prst="rect">
            <a:avLst/>
          </a:prstGeom>
          <a:noFill/>
        </p:spPr>
        <p:txBody>
          <a:bodyPr wrap="square" rtlCol="0">
            <a:spAutoFit/>
          </a:bodyPr>
          <a:lstStyle/>
          <a:p>
            <a:r>
              <a:rPr lang="en-US" sz="3200" dirty="0" smtClean="0">
                <a:latin typeface="Arial Rounded MT Bold" panose="020F0704030504030204" pitchFamily="34" charset="0"/>
              </a:rPr>
              <a:t>METHODOLOGY</a:t>
            </a:r>
          </a:p>
          <a:p>
            <a:endParaRPr lang="en-US" sz="2800" dirty="0"/>
          </a:p>
          <a:p>
            <a:pPr algn="just"/>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                      The Phone’s camera to capture text from signs, menus, or documents. Then, it uses OCR technology to read and recognize the text. Next, the app sends the text to a translation service to change it into the chosen language. The translated text is shown on the screen right away. The app will be tested to make sure it works well and is easy to use. It will be improved based on user feedback. Finally, the app will be made fast and smooth for all users.</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4027404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
            <a:ext cx="12192000" cy="6857999"/>
          </a:xfrm>
        </p:spPr>
      </p:pic>
      <p:sp>
        <p:nvSpPr>
          <p:cNvPr id="5" name="TextBox 4"/>
          <p:cNvSpPr txBox="1"/>
          <p:nvPr/>
        </p:nvSpPr>
        <p:spPr>
          <a:xfrm>
            <a:off x="838200" y="1184366"/>
            <a:ext cx="10265229" cy="4981303"/>
          </a:xfrm>
          <a:prstGeom prst="rect">
            <a:avLst/>
          </a:prstGeom>
          <a:noFill/>
        </p:spPr>
        <p:txBody>
          <a:bodyPr wrap="square" rtlCol="0">
            <a:spAutoFit/>
          </a:bodyPr>
          <a:lstStyle/>
          <a:p>
            <a:endParaRPr lang="en-IN"/>
          </a:p>
        </p:txBody>
      </p:sp>
      <p:sp>
        <p:nvSpPr>
          <p:cNvPr id="3" name="TextBox 2"/>
          <p:cNvSpPr txBox="1"/>
          <p:nvPr/>
        </p:nvSpPr>
        <p:spPr>
          <a:xfrm>
            <a:off x="838200" y="957943"/>
            <a:ext cx="10195560" cy="4308872"/>
          </a:xfrm>
          <a:prstGeom prst="rect">
            <a:avLst/>
          </a:prstGeom>
          <a:noFill/>
        </p:spPr>
        <p:txBody>
          <a:bodyPr wrap="square" rtlCol="0">
            <a:spAutoFit/>
          </a:bodyPr>
          <a:lstStyle/>
          <a:p>
            <a:r>
              <a:rPr lang="en-IN" sz="3200" b="1" dirty="0" smtClean="0">
                <a:latin typeface="Arial Rounded MT Bold" panose="020F0704030504030204" pitchFamily="34" charset="0"/>
              </a:rPr>
              <a:t>TOOLS USED</a:t>
            </a:r>
          </a:p>
          <a:p>
            <a:r>
              <a:rPr lang="en-IN" sz="2800" b="1" dirty="0"/>
              <a:t> </a:t>
            </a:r>
            <a:r>
              <a:rPr lang="en-IN" sz="2800" b="1" dirty="0" smtClean="0"/>
              <a:t>       </a:t>
            </a:r>
          </a:p>
          <a:p>
            <a:pPr>
              <a:buFont typeface="Wingdings" pitchFamily="2" charset="2"/>
              <a:buChar char="ü"/>
            </a:pPr>
            <a:r>
              <a:rPr lang="en-IN" sz="2800" b="1" dirty="0"/>
              <a:t> </a:t>
            </a:r>
            <a:r>
              <a:rPr lang="en-IN" sz="2800" b="1" dirty="0" smtClean="0"/>
              <a:t>  Camera </a:t>
            </a:r>
            <a:r>
              <a:rPr lang="en-IN" sz="2800" b="1" dirty="0"/>
              <a:t>API</a:t>
            </a:r>
            <a:r>
              <a:rPr lang="en-IN" sz="2800" dirty="0"/>
              <a:t> – For capturing live text.</a:t>
            </a:r>
          </a:p>
          <a:p>
            <a:pPr>
              <a:buFont typeface="Wingdings" pitchFamily="2" charset="2"/>
              <a:buChar char="ü"/>
            </a:pPr>
            <a:r>
              <a:rPr lang="en-IN" sz="2800" b="1" dirty="0" smtClean="0"/>
              <a:t>   OCR </a:t>
            </a:r>
            <a:r>
              <a:rPr lang="en-IN" sz="2800" b="1" dirty="0"/>
              <a:t>(Tesseract/ML Kit)</a:t>
            </a:r>
            <a:r>
              <a:rPr lang="en-IN" sz="2800" dirty="0"/>
              <a:t> – To detect and extract text.</a:t>
            </a:r>
          </a:p>
          <a:p>
            <a:pPr>
              <a:buFont typeface="Wingdings" pitchFamily="2" charset="2"/>
              <a:buChar char="ü"/>
            </a:pPr>
            <a:r>
              <a:rPr lang="en-IN" sz="2800" b="1" dirty="0" smtClean="0"/>
              <a:t>   Google </a:t>
            </a:r>
            <a:r>
              <a:rPr lang="en-IN" sz="2800" b="1" dirty="0"/>
              <a:t>Translate API</a:t>
            </a:r>
            <a:r>
              <a:rPr lang="en-IN" sz="2800" dirty="0"/>
              <a:t> – For real-time translation.</a:t>
            </a:r>
          </a:p>
          <a:p>
            <a:pPr>
              <a:buFont typeface="Wingdings" pitchFamily="2" charset="2"/>
              <a:buChar char="ü"/>
            </a:pPr>
            <a:r>
              <a:rPr lang="en-IN" sz="2800" b="1" dirty="0" smtClean="0"/>
              <a:t>   Java/</a:t>
            </a:r>
            <a:r>
              <a:rPr lang="en-IN" sz="2800" b="1" dirty="0" err="1" smtClean="0"/>
              <a:t>Kotlin</a:t>
            </a:r>
            <a:r>
              <a:rPr lang="en-IN" sz="2800" dirty="0" smtClean="0"/>
              <a:t> </a:t>
            </a:r>
            <a:r>
              <a:rPr lang="en-IN" sz="2800" dirty="0"/>
              <a:t>– For Android app development.</a:t>
            </a:r>
          </a:p>
          <a:p>
            <a:pPr>
              <a:buFont typeface="Wingdings" pitchFamily="2" charset="2"/>
              <a:buChar char="ü"/>
            </a:pPr>
            <a:r>
              <a:rPr lang="en-IN" sz="2800" b="1" dirty="0" smtClean="0"/>
              <a:t>    Android </a:t>
            </a:r>
            <a:r>
              <a:rPr lang="en-IN" sz="2800" b="1" dirty="0"/>
              <a:t>Studio</a:t>
            </a:r>
            <a:r>
              <a:rPr lang="en-IN" sz="2800" dirty="0"/>
              <a:t> – As the development environment.</a:t>
            </a:r>
          </a:p>
          <a:p>
            <a:r>
              <a:rPr lang="en-IN" sz="2800" b="1" dirty="0" smtClean="0"/>
              <a:t>        </a:t>
            </a:r>
            <a:endParaRPr lang="en-IN" sz="2800" dirty="0"/>
          </a:p>
          <a:p>
            <a:r>
              <a:rPr lang="en-IN" sz="2800" b="1" dirty="0" smtClean="0"/>
              <a:t>        </a:t>
            </a:r>
            <a:endParaRPr lang="en-IN" sz="2800" dirty="0"/>
          </a:p>
          <a:p>
            <a:endParaRPr lang="en-IN" dirty="0"/>
          </a:p>
        </p:txBody>
      </p:sp>
    </p:spTree>
    <p:extLst>
      <p:ext uri="{BB962C8B-B14F-4D97-AF65-F5344CB8AC3E}">
        <p14:creationId xmlns:p14="http://schemas.microsoft.com/office/powerpoint/2010/main" val="2874813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normAutofit/>
          </a:bodyPr>
          <a:lstStyle/>
          <a:p>
            <a:r>
              <a:rPr lang="en-IN" sz="3200" dirty="0" smtClean="0">
                <a:latin typeface="Arial Rounded MT Bold" panose="020F0704030504030204" pitchFamily="34" charset="0"/>
              </a:rPr>
              <a:t>OUTPUT:</a:t>
            </a:r>
            <a:endParaRPr lang="en-IN" sz="3200" dirty="0">
              <a:latin typeface="Arial Rounded MT Bold" panose="020F0704030504030204" pitchFamily="34" charset="0"/>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1742" y="1325563"/>
            <a:ext cx="10515600" cy="2969622"/>
          </a:xfrm>
        </p:spPr>
      </p:pic>
    </p:spTree>
    <p:extLst>
      <p:ext uri="{BB962C8B-B14F-4D97-AF65-F5344CB8AC3E}">
        <p14:creationId xmlns:p14="http://schemas.microsoft.com/office/powerpoint/2010/main" val="3475332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
            <a:ext cx="12192000" cy="6936376"/>
          </a:xfrm>
        </p:spPr>
      </p:pic>
      <p:sp>
        <p:nvSpPr>
          <p:cNvPr id="5" name="TextBox 4"/>
          <p:cNvSpPr txBox="1"/>
          <p:nvPr/>
        </p:nvSpPr>
        <p:spPr>
          <a:xfrm>
            <a:off x="640080" y="574766"/>
            <a:ext cx="8969122" cy="3354765"/>
          </a:xfrm>
          <a:prstGeom prst="rect">
            <a:avLst/>
          </a:prstGeom>
          <a:noFill/>
        </p:spPr>
        <p:txBody>
          <a:bodyPr wrap="none" rtlCol="0">
            <a:spAutoFit/>
          </a:bodyPr>
          <a:lstStyle/>
          <a:p>
            <a:r>
              <a:rPr lang="en-US" sz="3200" dirty="0" smtClean="0">
                <a:latin typeface="Arial Rounded MT Bold" pitchFamily="34" charset="0"/>
              </a:rPr>
              <a:t>LIMITATIONS</a:t>
            </a:r>
          </a:p>
          <a:p>
            <a:endParaRPr lang="en-US" sz="3200" dirty="0" smtClean="0">
              <a:latin typeface="Arial Rounded MT Bold" pitchFamily="34" charset="0"/>
              <a:cs typeface="Times New Roman" pitchFamily="18" charset="0"/>
            </a:endParaRPr>
          </a:p>
          <a:p>
            <a:pPr lvl="6">
              <a:buFont typeface="Wingdings" pitchFamily="2" charset="2"/>
              <a:buChar char="ü"/>
            </a:pPr>
            <a:r>
              <a:rPr lang="en-US" sz="32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OCR Accuracy Issues</a:t>
            </a:r>
          </a:p>
          <a:p>
            <a:pPr lvl="6">
              <a:buFont typeface="Wingdings" pitchFamily="2" charset="2"/>
              <a:buChar char="ü"/>
            </a:pPr>
            <a:r>
              <a:rPr lang="en-US" sz="2800" dirty="0" smtClean="0">
                <a:latin typeface="Times New Roman" pitchFamily="18" charset="0"/>
                <a:cs typeface="Times New Roman" pitchFamily="18" charset="0"/>
              </a:rPr>
              <a:t>  No Region-of-Interest (ROI) Selection</a:t>
            </a:r>
          </a:p>
          <a:p>
            <a:pPr lvl="6">
              <a:buFont typeface="Wingdings" pitchFamily="2" charset="2"/>
              <a:buChar char="ü"/>
            </a:pPr>
            <a:r>
              <a:rPr lang="en-US" sz="2800" dirty="0" smtClean="0">
                <a:latin typeface="Times New Roman" pitchFamily="18" charset="0"/>
                <a:cs typeface="Times New Roman" pitchFamily="18" charset="0"/>
              </a:rPr>
              <a:t>  No GUI or User Controls</a:t>
            </a:r>
          </a:p>
          <a:p>
            <a:pPr lvl="6">
              <a:buFont typeface="Wingdings" pitchFamily="2" charset="2"/>
              <a:buChar char="ü"/>
            </a:pPr>
            <a:r>
              <a:rPr lang="en-US" sz="2800" dirty="0" smtClean="0">
                <a:latin typeface="Times New Roman" pitchFamily="18" charset="0"/>
                <a:cs typeface="Times New Roman" pitchFamily="18" charset="0"/>
              </a:rPr>
              <a:t>  Limited Translation Reliability</a:t>
            </a:r>
          </a:p>
          <a:p>
            <a:pPr lvl="6">
              <a:buFont typeface="Wingdings" pitchFamily="2" charset="2"/>
              <a:buChar char="ü"/>
            </a:pPr>
            <a:r>
              <a:rPr lang="en-US" sz="32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Platform Dependency</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178919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
            <a:ext cx="12192000" cy="6857999"/>
          </a:xfrm>
        </p:spPr>
      </p:pic>
      <p:sp>
        <p:nvSpPr>
          <p:cNvPr id="5" name="TextBox 4"/>
          <p:cNvSpPr txBox="1"/>
          <p:nvPr/>
        </p:nvSpPr>
        <p:spPr>
          <a:xfrm>
            <a:off x="487680" y="661852"/>
            <a:ext cx="10866120" cy="4093428"/>
          </a:xfrm>
          <a:prstGeom prst="rect">
            <a:avLst/>
          </a:prstGeom>
          <a:noFill/>
        </p:spPr>
        <p:txBody>
          <a:bodyPr wrap="square" rtlCol="0">
            <a:spAutoFit/>
          </a:bodyPr>
          <a:lstStyle/>
          <a:p>
            <a:r>
              <a:rPr lang="en-US" sz="3200" dirty="0" smtClean="0">
                <a:latin typeface="Arial Rounded MT Bold" pitchFamily="34" charset="0"/>
              </a:rPr>
              <a:t>IMPROVEMENTS</a:t>
            </a:r>
          </a:p>
          <a:p>
            <a:endParaRPr lang="en-US" sz="3200" dirty="0" smtClean="0">
              <a:latin typeface="Arial Rounded MT Bold" pitchFamily="34" charset="0"/>
            </a:endParaRPr>
          </a:p>
          <a:p>
            <a:pPr algn="just"/>
            <a:r>
              <a:rPr lang="en-US" sz="2800" dirty="0" smtClean="0">
                <a:latin typeface="Times New Roman" pitchFamily="18" charset="0"/>
                <a:cs typeface="Times New Roman" pitchFamily="18" charset="0"/>
              </a:rPr>
              <a:t>                              Improvements include adding image preprocessing for better OCR </a:t>
            </a:r>
            <a:r>
              <a:rPr lang="en-US" sz="2800" dirty="0" err="1" smtClean="0">
                <a:latin typeface="Times New Roman" pitchFamily="18" charset="0"/>
                <a:cs typeface="Times New Roman" pitchFamily="18" charset="0"/>
              </a:rPr>
              <a:t>accuracy,supporting</a:t>
            </a:r>
            <a:r>
              <a:rPr lang="en-US" sz="2800" dirty="0" smtClean="0">
                <a:latin typeface="Times New Roman" pitchFamily="18" charset="0"/>
                <a:cs typeface="Times New Roman" pitchFamily="18" charset="0"/>
              </a:rPr>
              <a:t> multiple languages, enabling region of interest (ROI) selection to focus on text areas, and integrating a simple GUI for a more user-friendly </a:t>
            </a:r>
            <a:r>
              <a:rPr lang="en-US" sz="2800" dirty="0" err="1" smtClean="0">
                <a:latin typeface="Times New Roman" pitchFamily="18" charset="0"/>
                <a:cs typeface="Times New Roman" pitchFamily="18" charset="0"/>
              </a:rPr>
              <a:t>experience.Additionally</a:t>
            </a:r>
            <a:r>
              <a:rPr lang="en-US" sz="2800" dirty="0" smtClean="0">
                <a:latin typeface="Times New Roman" pitchFamily="18" charset="0"/>
                <a:cs typeface="Times New Roman" pitchFamily="18" charset="0"/>
              </a:rPr>
              <a:t>, integrating a graphical user interface (GUI) using tools like </a:t>
            </a:r>
            <a:r>
              <a:rPr lang="en-US" sz="2800" dirty="0" err="1" smtClean="0">
                <a:latin typeface="Times New Roman" pitchFamily="18" charset="0"/>
                <a:cs typeface="Times New Roman" pitchFamily="18" charset="0"/>
              </a:rPr>
              <a:t>Tkinter</a:t>
            </a:r>
            <a:r>
              <a:rPr lang="en-US" sz="2800" dirty="0" smtClean="0">
                <a:latin typeface="Times New Roman" pitchFamily="18" charset="0"/>
                <a:cs typeface="Times New Roman" pitchFamily="18" charset="0"/>
              </a:rPr>
              <a:t> or </a:t>
            </a:r>
            <a:r>
              <a:rPr lang="en-US" sz="2800" dirty="0" err="1" smtClean="0">
                <a:latin typeface="Times New Roman" pitchFamily="18" charset="0"/>
                <a:cs typeface="Times New Roman" pitchFamily="18" charset="0"/>
              </a:rPr>
              <a:t>PyQt</a:t>
            </a:r>
            <a:r>
              <a:rPr lang="en-US" sz="2800" dirty="0" smtClean="0">
                <a:latin typeface="Times New Roman" pitchFamily="18" charset="0"/>
                <a:cs typeface="Times New Roman" pitchFamily="18" charset="0"/>
              </a:rPr>
              <a:t> makes the application more user-friendly by replacing keyboard inputs with buttons and interactive elements.</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715288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12192000" cy="7254239"/>
          </a:xfrm>
        </p:spPr>
      </p:pic>
      <p:sp>
        <p:nvSpPr>
          <p:cNvPr id="5" name="TextBox 4"/>
          <p:cNvSpPr txBox="1"/>
          <p:nvPr/>
        </p:nvSpPr>
        <p:spPr>
          <a:xfrm>
            <a:off x="658948" y="946332"/>
            <a:ext cx="10130972" cy="5078313"/>
          </a:xfrm>
          <a:prstGeom prst="rect">
            <a:avLst/>
          </a:prstGeom>
          <a:noFill/>
        </p:spPr>
        <p:txBody>
          <a:bodyPr wrap="square" rtlCol="0">
            <a:spAutoFit/>
          </a:bodyPr>
          <a:lstStyle/>
          <a:p>
            <a:pPr algn="just"/>
            <a:r>
              <a:rPr lang="en-US" sz="3200" dirty="0" smtClean="0">
                <a:latin typeface="Arial Rounded MT Bold" pitchFamily="34" charset="0"/>
              </a:rPr>
              <a:t>CONCLUSION</a:t>
            </a:r>
          </a:p>
          <a:p>
            <a:pPr algn="just"/>
            <a:endParaRPr lang="en-US" sz="3200" dirty="0" smtClean="0">
              <a:latin typeface="Arial Rounded MT Bold" pitchFamily="34" charset="0"/>
            </a:endParaRPr>
          </a:p>
          <a:p>
            <a:pPr algn="just"/>
            <a:r>
              <a:rPr lang="en-US" sz="32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The real-time camera text translator using Python, </a:t>
            </a:r>
            <a:r>
              <a:rPr lang="en-US" sz="2800" dirty="0" err="1" smtClean="0">
                <a:latin typeface="Times New Roman" pitchFamily="18" charset="0"/>
                <a:cs typeface="Times New Roman" pitchFamily="18" charset="0"/>
              </a:rPr>
              <a:t>OpenCV</a:t>
            </a:r>
            <a:r>
              <a:rPr lang="en-US" sz="2800" dirty="0" smtClean="0">
                <a:latin typeface="Times New Roman" pitchFamily="18" charset="0"/>
                <a:cs typeface="Times New Roman" pitchFamily="18" charset="0"/>
              </a:rPr>
              <a:t>, </a:t>
            </a:r>
          </a:p>
          <a:p>
            <a:pPr algn="just"/>
            <a:r>
              <a:rPr lang="en-US" sz="2800" dirty="0" smtClean="0">
                <a:latin typeface="Times New Roman" pitchFamily="18" charset="0"/>
                <a:cs typeface="Times New Roman" pitchFamily="18" charset="0"/>
              </a:rPr>
              <a:t>Tesseract OCR, and Deep Translator effectively captures and translates text from live video. While it </a:t>
            </a:r>
            <a:r>
              <a:rPr lang="en-US" sz="2800" dirty="0" err="1" smtClean="0">
                <a:latin typeface="Times New Roman" pitchFamily="18" charset="0"/>
                <a:cs typeface="Times New Roman" pitchFamily="18" charset="0"/>
              </a:rPr>
              <a:t>performsbasic</a:t>
            </a:r>
            <a:r>
              <a:rPr lang="en-US" sz="2800" dirty="0" smtClean="0">
                <a:latin typeface="Times New Roman" pitchFamily="18" charset="0"/>
                <a:cs typeface="Times New Roman" pitchFamily="18" charset="0"/>
              </a:rPr>
              <a:t> OCR and translation </a:t>
            </a:r>
            <a:r>
              <a:rPr lang="en-US" sz="2800" dirty="0" err="1" smtClean="0">
                <a:latin typeface="Times New Roman" pitchFamily="18" charset="0"/>
                <a:cs typeface="Times New Roman" pitchFamily="18" charset="0"/>
              </a:rPr>
              <a:t>well,it</a:t>
            </a:r>
            <a:r>
              <a:rPr lang="en-US" sz="2800" dirty="0" smtClean="0">
                <a:latin typeface="Times New Roman" pitchFamily="18" charset="0"/>
                <a:cs typeface="Times New Roman" pitchFamily="18" charset="0"/>
              </a:rPr>
              <a:t> has limitations like low OCR accuracy, lack of GUI, no region selection, and dependence on an unofficial translation API. </a:t>
            </a:r>
            <a:r>
              <a:rPr lang="en-US" sz="2800" dirty="0" err="1" smtClean="0">
                <a:latin typeface="Times New Roman" pitchFamily="18" charset="0"/>
                <a:cs typeface="Times New Roman" pitchFamily="18" charset="0"/>
              </a:rPr>
              <a:t>Improvements.such</a:t>
            </a:r>
            <a:r>
              <a:rPr lang="en-US" sz="2800" dirty="0" smtClean="0">
                <a:latin typeface="Times New Roman" pitchFamily="18" charset="0"/>
                <a:cs typeface="Times New Roman" pitchFamily="18" charset="0"/>
              </a:rPr>
              <a:t> as image </a:t>
            </a:r>
            <a:r>
              <a:rPr lang="en-US" sz="2800" dirty="0" err="1" smtClean="0">
                <a:latin typeface="Times New Roman" pitchFamily="18" charset="0"/>
                <a:cs typeface="Times New Roman" pitchFamily="18" charset="0"/>
              </a:rPr>
              <a:t>preprocessing,multi</a:t>
            </a:r>
            <a:r>
              <a:rPr lang="en-US" sz="2800" dirty="0" smtClean="0">
                <a:latin typeface="Times New Roman" pitchFamily="18" charset="0"/>
                <a:cs typeface="Times New Roman" pitchFamily="18" charset="0"/>
              </a:rPr>
              <a:t>-language OCR, ROI selection, and a user-friendly GUI can significantly enhance its </a:t>
            </a:r>
            <a:r>
              <a:rPr lang="en-US" sz="2800" dirty="0" err="1" smtClean="0">
                <a:latin typeface="Times New Roman" pitchFamily="18" charset="0"/>
                <a:cs typeface="Times New Roman" pitchFamily="18" charset="0"/>
              </a:rPr>
              <a:t>accuracy,and</a:t>
            </a:r>
            <a:r>
              <a:rPr lang="en-US" sz="2800" dirty="0" smtClean="0">
                <a:latin typeface="Times New Roman" pitchFamily="18" charset="0"/>
                <a:cs typeface="Times New Roman" pitchFamily="18" charset="0"/>
              </a:rPr>
              <a:t> performance.</a:t>
            </a:r>
          </a:p>
          <a:p>
            <a:pPr algn="just"/>
            <a:endParaRPr lang="en-US" sz="32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3575260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15720410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TotalTime>
  <Words>602</Words>
  <Application>Microsoft Office PowerPoint</Application>
  <PresentationFormat>Widescreen</PresentationFormat>
  <Paragraphs>51</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Algerian</vt:lpstr>
      <vt:lpstr>Arial</vt:lpstr>
      <vt:lpstr>Arial Rounded MT Bold</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Indhuja Mooventhan</dc:creator>
  <cp:lastModifiedBy>Indhuja Mooventhan</cp:lastModifiedBy>
  <cp:revision>27</cp:revision>
  <dcterms:created xsi:type="dcterms:W3CDTF">2025-07-28T08:43:57Z</dcterms:created>
  <dcterms:modified xsi:type="dcterms:W3CDTF">2025-11-07T04:00:34Z</dcterms:modified>
</cp:coreProperties>
</file>